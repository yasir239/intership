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8288000" cy="10287000"/>
  <p:notesSz cx="6858000" cy="9144000"/>
  <p:embeddedFontLst>
    <p:embeddedFont>
      <p:font typeface="Arimo Bold" panose="020B0604020202020204" charset="0"/>
      <p:regular r:id="rId10"/>
    </p:embeddedFont>
    <p:embeddedFont>
      <p:font typeface="Arimo Bold Italics" panose="020B0604020202020204" charset="0"/>
      <p:regular r:id="rId11"/>
    </p:embeddedFont>
    <p:embeddedFont>
      <p:font typeface="Carlito" panose="020B0604020202020204" charset="0"/>
      <p:regular r:id="rId12"/>
    </p:embeddedFont>
    <p:embeddedFont>
      <p:font typeface="Carlito Bold" panose="020B0604020202020204" charset="0"/>
      <p:regular r:id="rId13"/>
    </p:embeddedFont>
    <p:embeddedFont>
      <p:font typeface="Radley" panose="020B0604020202020204" charset="0"/>
      <p:regular r:id="rId14"/>
    </p:embeddedFont>
    <p:embeddedFont>
      <p:font typeface="Radley Italics" panose="020B060402020202020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39" d="100"/>
          <a:sy n="39" d="100"/>
        </p:scale>
        <p:origin x="626" y="31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4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3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2.fntdata"/><Relationship Id="rId5" Type="http://schemas.openxmlformats.org/officeDocument/2006/relationships/slide" Target="slides/slide4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F834BEE-E204-4815-9C49-55F87DCBFE68}" type="datetimeFigureOut">
              <a:rPr lang="en-US" smtClean="0"/>
              <a:t>8/31/2025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83BD768-37B5-48FC-89EF-EEFEEBAA689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7846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83BD768-37B5-48FC-89EF-EEFEEBAA6897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51575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8/31/2025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19.svg"/><Relationship Id="rId18" Type="http://schemas.openxmlformats.org/officeDocument/2006/relationships/image" Target="../media/image24.png"/><Relationship Id="rId26" Type="http://schemas.openxmlformats.org/officeDocument/2006/relationships/image" Target="../media/image32.png"/><Relationship Id="rId3" Type="http://schemas.openxmlformats.org/officeDocument/2006/relationships/image" Target="../media/image9.svg"/><Relationship Id="rId21" Type="http://schemas.openxmlformats.org/officeDocument/2006/relationships/image" Target="../media/image27.svg"/><Relationship Id="rId7" Type="http://schemas.openxmlformats.org/officeDocument/2006/relationships/image" Target="../media/image13.svg"/><Relationship Id="rId12" Type="http://schemas.openxmlformats.org/officeDocument/2006/relationships/image" Target="../media/image18.png"/><Relationship Id="rId17" Type="http://schemas.openxmlformats.org/officeDocument/2006/relationships/image" Target="../media/image23.svg"/><Relationship Id="rId25" Type="http://schemas.openxmlformats.org/officeDocument/2006/relationships/image" Target="../media/image31.svg"/><Relationship Id="rId2" Type="http://schemas.openxmlformats.org/officeDocument/2006/relationships/image" Target="../media/image8.png"/><Relationship Id="rId16" Type="http://schemas.openxmlformats.org/officeDocument/2006/relationships/image" Target="../media/image22.png"/><Relationship Id="rId20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png"/><Relationship Id="rId11" Type="http://schemas.openxmlformats.org/officeDocument/2006/relationships/image" Target="../media/image17.svg"/><Relationship Id="rId24" Type="http://schemas.openxmlformats.org/officeDocument/2006/relationships/image" Target="../media/image30.png"/><Relationship Id="rId5" Type="http://schemas.openxmlformats.org/officeDocument/2006/relationships/image" Target="../media/image11.svg"/><Relationship Id="rId15" Type="http://schemas.openxmlformats.org/officeDocument/2006/relationships/image" Target="../media/image21.svg"/><Relationship Id="rId23" Type="http://schemas.openxmlformats.org/officeDocument/2006/relationships/image" Target="../media/image29.svg"/><Relationship Id="rId10" Type="http://schemas.openxmlformats.org/officeDocument/2006/relationships/image" Target="../media/image16.png"/><Relationship Id="rId19" Type="http://schemas.openxmlformats.org/officeDocument/2006/relationships/image" Target="../media/image25.svg"/><Relationship Id="rId4" Type="http://schemas.openxmlformats.org/officeDocument/2006/relationships/image" Target="../media/image10.png"/><Relationship Id="rId9" Type="http://schemas.openxmlformats.org/officeDocument/2006/relationships/image" Target="../media/image15.svg"/><Relationship Id="rId14" Type="http://schemas.openxmlformats.org/officeDocument/2006/relationships/image" Target="../media/image20.png"/><Relationship Id="rId22" Type="http://schemas.openxmlformats.org/officeDocument/2006/relationships/image" Target="../media/image28.png"/><Relationship Id="rId27" Type="http://schemas.openxmlformats.org/officeDocument/2006/relationships/image" Target="../media/image3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1986138" y="1105757"/>
            <a:ext cx="11417008" cy="0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742303" y="8586508"/>
            <a:ext cx="16803394" cy="34583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4" name="Group 4"/>
          <p:cNvGrpSpPr/>
          <p:nvPr/>
        </p:nvGrpSpPr>
        <p:grpSpPr>
          <a:xfrm>
            <a:off x="1986138" y="2075759"/>
            <a:ext cx="14315724" cy="4767693"/>
            <a:chOff x="0" y="0"/>
            <a:chExt cx="19087631" cy="6356925"/>
          </a:xfrm>
        </p:grpSpPr>
        <p:sp>
          <p:nvSpPr>
            <p:cNvPr id="5" name="TextBox 5"/>
            <p:cNvSpPr txBox="1"/>
            <p:nvPr/>
          </p:nvSpPr>
          <p:spPr>
            <a:xfrm>
              <a:off x="0" y="1521841"/>
              <a:ext cx="19087631" cy="483508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3342"/>
                </a:lnSpc>
              </a:pPr>
              <a:r>
                <a:rPr lang="en-US" sz="14991" spc="-299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Summe</a:t>
              </a:r>
              <a:r>
                <a:rPr lang="en-US" sz="14991" u="none" spc="-299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r Internship 2025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2089235" y="161925"/>
              <a:ext cx="14909162" cy="91079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4682"/>
                </a:lnSpc>
              </a:pPr>
              <a:r>
                <a:rPr lang="en-US" sz="5321" i="1" spc="-106">
                  <a:solidFill>
                    <a:srgbClr val="9B4819"/>
                  </a:solidFill>
                  <a:latin typeface="Radley Italics"/>
                  <a:ea typeface="Radley Italics"/>
                  <a:cs typeface="Radley Italics"/>
                  <a:sym typeface="Radley Italics"/>
                </a:rPr>
                <a:t>Yasser Alobaid</a:t>
              </a:r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1028700" y="9239319"/>
            <a:ext cx="4654021" cy="36131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spc="252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SUP</a:t>
            </a:r>
            <a:r>
              <a:rPr lang="en-US" sz="1900" u="none" spc="252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ERVISOR:KHALIL AL-SHUQIRAT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179096" y="0"/>
            <a:ext cx="8369277" cy="10287000"/>
            <a:chOff x="0" y="0"/>
            <a:chExt cx="1968573" cy="2419649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1968573" cy="2419649"/>
            </a:xfrm>
            <a:custGeom>
              <a:avLst/>
              <a:gdLst/>
              <a:ahLst/>
              <a:cxnLst/>
              <a:rect l="l" t="t" r="r" b="b"/>
              <a:pathLst>
                <a:path w="1968573" h="2419649">
                  <a:moveTo>
                    <a:pt x="0" y="0"/>
                  </a:moveTo>
                  <a:lnTo>
                    <a:pt x="1968573" y="0"/>
                  </a:lnTo>
                  <a:lnTo>
                    <a:pt x="1968573" y="2419649"/>
                  </a:lnTo>
                  <a:lnTo>
                    <a:pt x="0" y="2419649"/>
                  </a:lnTo>
                  <a:close/>
                </a:path>
              </a:pathLst>
            </a:custGeom>
            <a:solidFill>
              <a:srgbClr val="9B4819"/>
            </a:solidFill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-76200"/>
              <a:ext cx="1968573" cy="249584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800"/>
                </a:lnSpc>
              </a:pPr>
              <a:endParaRPr/>
            </a:p>
          </p:txBody>
        </p:sp>
      </p:grpSp>
      <p:sp>
        <p:nvSpPr>
          <p:cNvPr id="5" name="AutoShape 5"/>
          <p:cNvSpPr/>
          <p:nvPr/>
        </p:nvSpPr>
        <p:spPr>
          <a:xfrm flipV="1">
            <a:off x="1819607" y="427671"/>
            <a:ext cx="13614849" cy="0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>
            <a:off x="1028700" y="6398866"/>
            <a:ext cx="6666171" cy="0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10709445" y="1751646"/>
            <a:ext cx="6356958" cy="6356958"/>
          </a:xfrm>
          <a:custGeom>
            <a:avLst/>
            <a:gdLst/>
            <a:ahLst/>
            <a:cxnLst/>
            <a:rect l="l" t="t" r="r" b="b"/>
            <a:pathLst>
              <a:path w="6356958" h="6356958">
                <a:moveTo>
                  <a:pt x="0" y="0"/>
                </a:moveTo>
                <a:lnTo>
                  <a:pt x="6356958" y="0"/>
                </a:lnTo>
                <a:lnTo>
                  <a:pt x="6356958" y="6356959"/>
                </a:lnTo>
                <a:lnTo>
                  <a:pt x="0" y="6356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TextBox 8"/>
          <p:cNvSpPr txBox="1"/>
          <p:nvPr/>
        </p:nvSpPr>
        <p:spPr>
          <a:xfrm>
            <a:off x="901949" y="3093691"/>
            <a:ext cx="9150396" cy="28956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5201"/>
              </a:lnSpc>
              <a:spcBef>
                <a:spcPct val="0"/>
              </a:spcBef>
            </a:pPr>
            <a:r>
              <a:rPr lang="en-US" sz="4334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Dep</a:t>
            </a:r>
            <a:r>
              <a:rPr lang="en-US" sz="4334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artments involved:</a:t>
            </a:r>
          </a:p>
          <a:p>
            <a:pPr marL="741456" lvl="1" indent="-370728" algn="l">
              <a:lnSpc>
                <a:spcPts val="4121"/>
              </a:lnSpc>
              <a:spcBef>
                <a:spcPct val="0"/>
              </a:spcBef>
              <a:buAutoNum type="arabicPeriod"/>
            </a:pPr>
            <a:r>
              <a:rPr lang="en-US" sz="3434" u="none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Information Systems Department</a:t>
            </a:r>
          </a:p>
          <a:p>
            <a:pPr marL="719867" lvl="1" indent="-359933" algn="l">
              <a:lnSpc>
                <a:spcPts val="4001"/>
              </a:lnSpc>
              <a:spcBef>
                <a:spcPct val="0"/>
              </a:spcBef>
              <a:buAutoNum type="arabicPeriod"/>
            </a:pPr>
            <a:r>
              <a:rPr lang="en-US" sz="3334" u="none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Networks &amp; Technical Support Department</a:t>
            </a:r>
          </a:p>
          <a:p>
            <a:pPr marL="741456" lvl="1" indent="-370728" algn="l">
              <a:lnSpc>
                <a:spcPts val="4121"/>
              </a:lnSpc>
              <a:spcBef>
                <a:spcPct val="0"/>
              </a:spcBef>
              <a:buAutoNum type="arabicPeriod"/>
            </a:pPr>
            <a:r>
              <a:rPr lang="en-US" sz="3434" u="none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Software Development Department</a:t>
            </a:r>
          </a:p>
          <a:p>
            <a:pPr marL="0" lvl="0" indent="0" algn="l">
              <a:lnSpc>
                <a:spcPts val="4841"/>
              </a:lnSpc>
              <a:spcBef>
                <a:spcPct val="0"/>
              </a:spcBef>
            </a:pPr>
            <a:endParaRPr lang="en-US" sz="3434" u="none">
              <a:solidFill>
                <a:srgbClr val="000000"/>
              </a:solidFill>
              <a:latin typeface="Radley"/>
              <a:ea typeface="Radley"/>
              <a:cs typeface="Radley"/>
              <a:sym typeface="Radley"/>
            </a:endParaRPr>
          </a:p>
        </p:txBody>
      </p:sp>
      <p:sp>
        <p:nvSpPr>
          <p:cNvPr id="9" name="TextBox 9"/>
          <p:cNvSpPr txBox="1"/>
          <p:nvPr/>
        </p:nvSpPr>
        <p:spPr>
          <a:xfrm>
            <a:off x="828284" y="6748752"/>
            <a:ext cx="9551228" cy="952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9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Role: </a:t>
            </a:r>
            <a:r>
              <a:rPr lang="en-US" sz="29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rPr>
              <a:t>Supporting students and the university by developing practical tools and systems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901949" y="1227771"/>
            <a:ext cx="8896894" cy="10191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960"/>
              </a:lnSpc>
            </a:pPr>
            <a:r>
              <a:rPr lang="en-US" sz="3300" b="1">
                <a:solidFill>
                  <a:srgbClr val="000000"/>
                </a:solidFill>
                <a:latin typeface="Arimo Bold"/>
                <a:ea typeface="Arimo Bold"/>
                <a:cs typeface="Arimo Bold"/>
                <a:sym typeface="Arimo Bold"/>
              </a:rPr>
              <a:t>Organization: Deanship of Information Technology – Qassim University (QUIT)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6096000" y="3326411"/>
            <a:ext cx="6094713" cy="5279056"/>
            <a:chOff x="0" y="0"/>
            <a:chExt cx="8126284" cy="7038742"/>
          </a:xfrm>
        </p:grpSpPr>
        <p:sp>
          <p:nvSpPr>
            <p:cNvPr id="3" name="AutoShape 3"/>
            <p:cNvSpPr/>
            <p:nvPr/>
          </p:nvSpPr>
          <p:spPr>
            <a:xfrm flipH="1">
              <a:off x="12700" y="0"/>
              <a:ext cx="0" cy="7038742"/>
            </a:xfrm>
            <a:prstGeom prst="line">
              <a:avLst/>
            </a:prstGeom>
            <a:ln w="25400" cap="flat">
              <a:solidFill>
                <a:srgbClr val="BD8F5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4" name="AutoShape 4"/>
            <p:cNvSpPr/>
            <p:nvPr/>
          </p:nvSpPr>
          <p:spPr>
            <a:xfrm>
              <a:off x="8113584" y="0"/>
              <a:ext cx="0" cy="7038742"/>
            </a:xfrm>
            <a:prstGeom prst="line">
              <a:avLst/>
            </a:prstGeom>
            <a:ln w="25400" cap="flat">
              <a:solidFill>
                <a:srgbClr val="BD8F5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71513" y="3679007"/>
            <a:ext cx="4691803" cy="1543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L</a:t>
            </a:r>
            <a:r>
              <a:rPr lang="en-US" sz="3399" u="none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earn full-stack development with Laravel &amp; MySQL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2741035" y="3876089"/>
            <a:ext cx="469180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</a:pPr>
            <a:r>
              <a:rPr lang="en-US" sz="3399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Develop</a:t>
            </a:r>
            <a:r>
              <a:rPr lang="en-US" sz="3399" u="none" dirty="0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 teamwork and collaboration skills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175184" y="1455064"/>
            <a:ext cx="11911753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9B4819"/>
                </a:solidFill>
                <a:latin typeface="Radley"/>
                <a:ea typeface="Radley"/>
                <a:cs typeface="Radley"/>
                <a:sym typeface="Radley"/>
              </a:rPr>
              <a:t>Training Plan </a:t>
            </a:r>
          </a:p>
        </p:txBody>
      </p:sp>
      <p:sp>
        <p:nvSpPr>
          <p:cNvPr id="9" name="AutoShape 9"/>
          <p:cNvSpPr/>
          <p:nvPr/>
        </p:nvSpPr>
        <p:spPr>
          <a:xfrm flipV="1">
            <a:off x="1028700" y="1091683"/>
            <a:ext cx="15158545" cy="14073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8806964" y="4236680"/>
            <a:ext cx="674072" cy="654462"/>
          </a:xfrm>
          <a:custGeom>
            <a:avLst/>
            <a:gdLst/>
            <a:ahLst/>
            <a:cxnLst/>
            <a:rect l="l" t="t" r="r" b="b"/>
            <a:pathLst>
              <a:path w="674072" h="654462">
                <a:moveTo>
                  <a:pt x="0" y="0"/>
                </a:moveTo>
                <a:lnTo>
                  <a:pt x="674072" y="0"/>
                </a:lnTo>
                <a:lnTo>
                  <a:pt x="674072" y="654462"/>
                </a:lnTo>
                <a:lnTo>
                  <a:pt x="0" y="6544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TextBox 12"/>
          <p:cNvSpPr txBox="1"/>
          <p:nvPr/>
        </p:nvSpPr>
        <p:spPr>
          <a:xfrm>
            <a:off x="2283369" y="2612036"/>
            <a:ext cx="13695382" cy="146113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899"/>
              </a:lnSpc>
              <a:spcBef>
                <a:spcPct val="0"/>
              </a:spcBef>
            </a:pPr>
            <a:r>
              <a:rPr lang="en-US" sz="3499" b="1">
                <a:solidFill>
                  <a:srgbClr val="9B4819"/>
                </a:solidFill>
                <a:latin typeface="Carlito Bold"/>
                <a:ea typeface="Carlito Bold"/>
                <a:cs typeface="Carlito Bold"/>
                <a:sym typeface="Carlito Bold"/>
              </a:rPr>
              <a:t>Duration: 8 Weeks | Audience: Software Development Interns</a:t>
            </a: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3499" b="1">
              <a:solidFill>
                <a:srgbClr val="9B4819"/>
              </a:solidFill>
              <a:latin typeface="Carlito Bold"/>
              <a:ea typeface="Carlito Bold"/>
              <a:cs typeface="Carlito Bold"/>
              <a:sym typeface="Carlito Bold"/>
            </a:endParaRPr>
          </a:p>
          <a:p>
            <a:pPr algn="ctr">
              <a:lnSpc>
                <a:spcPts val="3079"/>
              </a:lnSpc>
              <a:spcBef>
                <a:spcPct val="0"/>
              </a:spcBef>
            </a:pPr>
            <a:endParaRPr lang="en-US" sz="3499" b="1">
              <a:solidFill>
                <a:srgbClr val="9B4819"/>
              </a:solidFill>
              <a:latin typeface="Carlito Bold"/>
              <a:ea typeface="Carlito Bold"/>
              <a:cs typeface="Carlito Bold"/>
              <a:sym typeface="Carlito Bold"/>
            </a:endParaRPr>
          </a:p>
        </p:txBody>
      </p:sp>
      <p:sp>
        <p:nvSpPr>
          <p:cNvPr id="13" name="TextBox 13"/>
          <p:cNvSpPr txBox="1"/>
          <p:nvPr/>
        </p:nvSpPr>
        <p:spPr>
          <a:xfrm>
            <a:off x="1028700" y="5965939"/>
            <a:ext cx="469180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Wo</a:t>
            </a:r>
            <a:r>
              <a:rPr lang="en-US" sz="3399" u="none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rk with JSON data and APIs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6461063" y="3679007"/>
            <a:ext cx="469180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Us</a:t>
            </a:r>
            <a:r>
              <a:rPr lang="en-US" sz="3399" u="none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 version control with GitHub (Git Flow)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6461063" y="5965939"/>
            <a:ext cx="4691803" cy="10287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4079"/>
              </a:lnSpc>
            </a:pPr>
            <a:r>
              <a:rPr lang="en-US" sz="3399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Writ</a:t>
            </a:r>
            <a:r>
              <a:rPr lang="en-US" sz="3399" u="none">
                <a:solidFill>
                  <a:srgbClr val="000000"/>
                </a:solidFill>
                <a:latin typeface="Radley"/>
                <a:ea typeface="Radley"/>
                <a:cs typeface="Radley"/>
                <a:sym typeface="Radley"/>
              </a:rPr>
              <a:t>e professional documentation (SRS)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DB8D72C-83BE-FB74-EAC4-74A0A62AFD18}"/>
              </a:ext>
            </a:extLst>
          </p:cNvPr>
          <p:cNvSpPr txBox="1"/>
          <p:nvPr/>
        </p:nvSpPr>
        <p:spPr>
          <a:xfrm>
            <a:off x="12344400" y="5440443"/>
            <a:ext cx="9144000" cy="37548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400" dirty="0"/>
              <a:t>System Requirements Software: </a:t>
            </a:r>
          </a:p>
          <a:p>
            <a:r>
              <a:rPr lang="en-US" sz="3400" dirty="0"/>
              <a:t>	Laravel 10+ 	</a:t>
            </a:r>
          </a:p>
          <a:p>
            <a:r>
              <a:rPr lang="en-US" sz="3400" dirty="0"/>
              <a:t>	MySQL / </a:t>
            </a:r>
            <a:r>
              <a:rPr lang="en-US" sz="3400" dirty="0">
                <a:latin typeface="Radley" panose="020B0604020202020204" charset="0"/>
              </a:rPr>
              <a:t>MariaDB</a:t>
            </a:r>
            <a:r>
              <a:rPr lang="en-US" sz="3400" dirty="0"/>
              <a:t> </a:t>
            </a:r>
          </a:p>
          <a:p>
            <a:r>
              <a:rPr lang="en-US" sz="3400" dirty="0"/>
              <a:t>	HTML, CSS, JavaScript </a:t>
            </a:r>
          </a:p>
          <a:p>
            <a:r>
              <a:rPr lang="en-US" sz="3400" dirty="0"/>
              <a:t>	Node.js + NPM </a:t>
            </a:r>
          </a:p>
          <a:p>
            <a:r>
              <a:rPr lang="en-US" sz="3400" dirty="0"/>
              <a:t>	OpenAI API Key </a:t>
            </a:r>
          </a:p>
          <a:p>
            <a:r>
              <a:rPr lang="en-US" sz="3400" dirty="0"/>
              <a:t>	GitHub account 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064112" y="6723684"/>
            <a:ext cx="2518165" cy="13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Da</a:t>
            </a:r>
            <a:r>
              <a:rPr lang="en-US" sz="2499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ta mapping &amp; OpenAI API integration</a:t>
            </a:r>
          </a:p>
        </p:txBody>
      </p:sp>
      <p:sp>
        <p:nvSpPr>
          <p:cNvPr id="3" name="TextBox 3"/>
          <p:cNvSpPr txBox="1"/>
          <p:nvPr/>
        </p:nvSpPr>
        <p:spPr>
          <a:xfrm>
            <a:off x="9095952" y="5266671"/>
            <a:ext cx="2843718" cy="13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</a:t>
            </a:r>
            <a:r>
              <a:rPr lang="en-US" sz="2499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tore data, model creation &amp; feature development</a:t>
            </a:r>
          </a:p>
        </p:txBody>
      </p:sp>
      <p:sp>
        <p:nvSpPr>
          <p:cNvPr id="4" name="TextBox 4"/>
          <p:cNvSpPr txBox="1"/>
          <p:nvPr/>
        </p:nvSpPr>
        <p:spPr>
          <a:xfrm>
            <a:off x="13460682" y="3809103"/>
            <a:ext cx="2775557" cy="13462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SRS</a:t>
            </a:r>
            <a:r>
              <a:rPr lang="en-US" sz="2499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writing, testing, UX improvements, final documentation</a:t>
            </a:r>
          </a:p>
        </p:txBody>
      </p:sp>
      <p:sp>
        <p:nvSpPr>
          <p:cNvPr id="5" name="AutoShape 5"/>
          <p:cNvSpPr/>
          <p:nvPr/>
        </p:nvSpPr>
        <p:spPr>
          <a:xfrm flipV="1">
            <a:off x="1203885" y="6355928"/>
            <a:ext cx="3991047" cy="1278981"/>
          </a:xfrm>
          <a:prstGeom prst="line">
            <a:avLst/>
          </a:prstGeom>
          <a:ln w="28575" cap="flat">
            <a:solidFill>
              <a:srgbClr val="BD8F53"/>
            </a:solidFill>
            <a:prstDash val="solid"/>
            <a:headEnd type="oval" w="lg" len="lg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6" name="AutoShape 6"/>
          <p:cNvSpPr/>
          <p:nvPr/>
        </p:nvSpPr>
        <p:spPr>
          <a:xfrm flipV="1">
            <a:off x="5156955" y="4920352"/>
            <a:ext cx="4036040" cy="1421288"/>
          </a:xfrm>
          <a:prstGeom prst="line">
            <a:avLst/>
          </a:prstGeom>
          <a:ln w="28575" cap="flat">
            <a:solidFill>
              <a:srgbClr val="BD8F53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7" name="AutoShape 7"/>
          <p:cNvSpPr/>
          <p:nvPr/>
        </p:nvSpPr>
        <p:spPr>
          <a:xfrm flipV="1">
            <a:off x="9115002" y="3490462"/>
            <a:ext cx="4434365" cy="1415603"/>
          </a:xfrm>
          <a:prstGeom prst="line">
            <a:avLst/>
          </a:prstGeom>
          <a:ln w="28575" cap="flat">
            <a:solidFill>
              <a:srgbClr val="BD8F53"/>
            </a:solidFill>
            <a:prstDash val="solid"/>
            <a:headEnd type="none" w="sm" len="sm"/>
            <a:tailEnd type="oval" w="lg" len="lg"/>
          </a:ln>
        </p:spPr>
        <p:txBody>
          <a:bodyPr/>
          <a:lstStyle/>
          <a:p>
            <a:endParaRPr lang="en-US"/>
          </a:p>
        </p:txBody>
      </p:sp>
      <p:sp>
        <p:nvSpPr>
          <p:cNvPr id="8" name="AutoShape 8"/>
          <p:cNvSpPr/>
          <p:nvPr/>
        </p:nvSpPr>
        <p:spPr>
          <a:xfrm flipV="1">
            <a:off x="1028700" y="1091683"/>
            <a:ext cx="15158545" cy="14073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 rot="3018388" flipH="1">
            <a:off x="10675716" y="1526018"/>
            <a:ext cx="1312937" cy="2344530"/>
          </a:xfrm>
          <a:custGeom>
            <a:avLst/>
            <a:gdLst/>
            <a:ahLst/>
            <a:cxnLst/>
            <a:rect l="l" t="t" r="r" b="b"/>
            <a:pathLst>
              <a:path w="1312937" h="2344530">
                <a:moveTo>
                  <a:pt x="1312937" y="0"/>
                </a:moveTo>
                <a:lnTo>
                  <a:pt x="0" y="0"/>
                </a:lnTo>
                <a:lnTo>
                  <a:pt x="0" y="2344530"/>
                </a:lnTo>
                <a:lnTo>
                  <a:pt x="1312937" y="2344530"/>
                </a:lnTo>
                <a:lnTo>
                  <a:pt x="1312937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TextBox 10"/>
          <p:cNvSpPr txBox="1"/>
          <p:nvPr/>
        </p:nvSpPr>
        <p:spPr>
          <a:xfrm>
            <a:off x="1203885" y="7988472"/>
            <a:ext cx="2665675" cy="9080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499"/>
              </a:lnSpc>
              <a:spcBef>
                <a:spcPct val="0"/>
              </a:spcBef>
            </a:pPr>
            <a:r>
              <a:rPr lang="en-US" sz="2499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L</a:t>
            </a:r>
            <a:r>
              <a:rPr lang="en-US" sz="2499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aravel basics, setup, GitHub, JSON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72101" y="6761784"/>
            <a:ext cx="1581543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r>
              <a:rPr lang="en-US" sz="3399" i="1">
                <a:solidFill>
                  <a:srgbClr val="000000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Week 1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5106056" y="5457171"/>
            <a:ext cx="183749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r>
              <a:rPr lang="en-US" sz="3399" i="1">
                <a:solidFill>
                  <a:srgbClr val="000000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week 2&amp;3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9086426" y="3490462"/>
            <a:ext cx="1886373" cy="51860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r>
              <a:rPr lang="en-US" sz="3399" i="1" dirty="0">
                <a:solidFill>
                  <a:srgbClr val="000000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Week 4&amp;5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13549367" y="2681772"/>
            <a:ext cx="1800098" cy="514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079"/>
              </a:lnSpc>
              <a:spcBef>
                <a:spcPct val="0"/>
              </a:spcBef>
            </a:pPr>
            <a:r>
              <a:rPr lang="en-US" sz="3399" i="1">
                <a:solidFill>
                  <a:srgbClr val="000000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Week 6-8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72101" y="1693711"/>
            <a:ext cx="6763312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9B4819"/>
                </a:solidFill>
                <a:latin typeface="Radley"/>
                <a:ea typeface="Radley"/>
                <a:cs typeface="Radley"/>
                <a:sym typeface="Radley"/>
              </a:rPr>
              <a:t>Week Timeline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85149" y="24128"/>
            <a:ext cx="6763312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9B4819"/>
                </a:solidFill>
                <a:latin typeface="Radley"/>
                <a:ea typeface="Radley"/>
                <a:cs typeface="Radley"/>
                <a:sym typeface="Radley"/>
              </a:rPr>
              <a:t>cont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 flipV="1">
            <a:off x="1028700" y="1091683"/>
            <a:ext cx="15158545" cy="14073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3" name="AutoShape 3"/>
          <p:cNvSpPr/>
          <p:nvPr/>
        </p:nvSpPr>
        <p:spPr>
          <a:xfrm>
            <a:off x="6461413" y="3430212"/>
            <a:ext cx="0" cy="5228976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4" name="AutoShape 4"/>
          <p:cNvSpPr/>
          <p:nvPr/>
        </p:nvSpPr>
        <p:spPr>
          <a:xfrm>
            <a:off x="12109060" y="3430212"/>
            <a:ext cx="0" cy="5228976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Box 5"/>
          <p:cNvSpPr txBox="1"/>
          <p:nvPr/>
        </p:nvSpPr>
        <p:spPr>
          <a:xfrm>
            <a:off x="2191680" y="1724426"/>
            <a:ext cx="13904640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7840"/>
              </a:lnSpc>
              <a:spcBef>
                <a:spcPct val="0"/>
              </a:spcBef>
            </a:pPr>
            <a:r>
              <a:rPr lang="en-US" sz="7000">
                <a:solidFill>
                  <a:srgbClr val="9B4819"/>
                </a:solidFill>
                <a:latin typeface="Radley"/>
                <a:ea typeface="Radley"/>
                <a:cs typeface="Radley"/>
                <a:sym typeface="Radley"/>
              </a:rPr>
              <a:t>Team Tasks &amp; Collaboration</a:t>
            </a:r>
          </a:p>
        </p:txBody>
      </p:sp>
      <p:grpSp>
        <p:nvGrpSpPr>
          <p:cNvPr id="6" name="Group 6"/>
          <p:cNvGrpSpPr/>
          <p:nvPr/>
        </p:nvGrpSpPr>
        <p:grpSpPr>
          <a:xfrm>
            <a:off x="1732495" y="4427883"/>
            <a:ext cx="3248212" cy="3383860"/>
            <a:chOff x="0" y="0"/>
            <a:chExt cx="4330949" cy="4511813"/>
          </a:xfrm>
        </p:grpSpPr>
        <p:sp>
          <p:nvSpPr>
            <p:cNvPr id="7" name="TextBox 7"/>
            <p:cNvSpPr txBox="1"/>
            <p:nvPr/>
          </p:nvSpPr>
          <p:spPr>
            <a:xfrm>
              <a:off x="0" y="0"/>
              <a:ext cx="4330949" cy="6858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Team Setup: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0" y="855694"/>
              <a:ext cx="4330949" cy="36561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5 students in one room, each assigned an individual project.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Teamwork mainly involved discussions, idea sharing, and peer support.</a:t>
              </a:r>
            </a:p>
          </p:txBody>
        </p:sp>
      </p:grpSp>
      <p:grpSp>
        <p:nvGrpSpPr>
          <p:cNvPr id="9" name="Group 9"/>
          <p:cNvGrpSpPr/>
          <p:nvPr/>
        </p:nvGrpSpPr>
        <p:grpSpPr>
          <a:xfrm>
            <a:off x="7519894" y="4427883"/>
            <a:ext cx="3248212" cy="3898210"/>
            <a:chOff x="0" y="0"/>
            <a:chExt cx="4330949" cy="5197613"/>
          </a:xfrm>
        </p:grpSpPr>
        <p:sp>
          <p:nvSpPr>
            <p:cNvPr id="10" name="TextBox 10"/>
            <p:cNvSpPr txBox="1"/>
            <p:nvPr/>
          </p:nvSpPr>
          <p:spPr>
            <a:xfrm>
              <a:off x="0" y="0"/>
              <a:ext cx="4330949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Collaboration Highlights: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1541494"/>
              <a:ext cx="4330949" cy="36561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Assisted each other with troubleshooting and coding challenges.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Reviewed each other’s code and suggested improvements.</a:t>
              </a:r>
            </a:p>
          </p:txBody>
        </p:sp>
      </p:grpSp>
      <p:grpSp>
        <p:nvGrpSpPr>
          <p:cNvPr id="12" name="Group 12"/>
          <p:cNvGrpSpPr/>
          <p:nvPr/>
        </p:nvGrpSpPr>
        <p:grpSpPr>
          <a:xfrm>
            <a:off x="12848108" y="4427883"/>
            <a:ext cx="3248212" cy="3898210"/>
            <a:chOff x="0" y="0"/>
            <a:chExt cx="4330949" cy="5197613"/>
          </a:xfrm>
        </p:grpSpPr>
        <p:sp>
          <p:nvSpPr>
            <p:cNvPr id="13" name="TextBox 13"/>
            <p:cNvSpPr txBox="1"/>
            <p:nvPr/>
          </p:nvSpPr>
          <p:spPr>
            <a:xfrm>
              <a:off x="0" y="0"/>
              <a:ext cx="4330949" cy="137160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079"/>
                </a:lnSpc>
              </a:pPr>
              <a:r>
                <a:rPr lang="en-US" sz="3399">
                  <a:solidFill>
                    <a:srgbClr val="000000"/>
                  </a:solidFill>
                  <a:latin typeface="Radley"/>
                  <a:ea typeface="Radley"/>
                  <a:cs typeface="Radley"/>
                  <a:sym typeface="Radley"/>
                </a:rPr>
                <a:t>Weekly Meetings: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0" y="1541494"/>
              <a:ext cx="4330949" cy="365611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Met weekly with the internship supervisor.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endParaRPr>
            </a:p>
            <a:p>
              <a:pPr algn="ctr">
                <a:lnSpc>
                  <a:spcPts val="3079"/>
                </a:lnSpc>
              </a:pPr>
              <a:r>
                <a:rPr lang="en-US" sz="2199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Discussed progress, challenges, and received guidance.</a:t>
              </a:r>
            </a:p>
            <a:p>
              <a:pPr algn="ctr">
                <a:lnSpc>
                  <a:spcPts val="3079"/>
                </a:lnSpc>
              </a:pPr>
              <a:endParaRPr lang="en-US" sz="2199">
                <a:solidFill>
                  <a:srgbClr val="000000"/>
                </a:solidFill>
                <a:latin typeface="Carlito"/>
                <a:ea typeface="Carlito"/>
                <a:cs typeface="Carlito"/>
                <a:sym typeface="Carlito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563284" y="1949470"/>
            <a:ext cx="10642924" cy="2158512"/>
            <a:chOff x="0" y="0"/>
            <a:chExt cx="14190566" cy="2878016"/>
          </a:xfrm>
        </p:grpSpPr>
        <p:sp>
          <p:nvSpPr>
            <p:cNvPr id="3" name="TextBox 3"/>
            <p:cNvSpPr txBox="1"/>
            <p:nvPr/>
          </p:nvSpPr>
          <p:spPr>
            <a:xfrm>
              <a:off x="0" y="9525"/>
              <a:ext cx="14190417" cy="79057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4799"/>
                </a:lnSpc>
                <a:spcBef>
                  <a:spcPct val="0"/>
                </a:spcBef>
              </a:pPr>
              <a:r>
                <a:rPr lang="en-US" sz="3999">
                  <a:solidFill>
                    <a:srgbClr val="9B4819"/>
                  </a:solidFill>
                  <a:latin typeface="Radley"/>
                  <a:ea typeface="Radley"/>
                  <a:cs typeface="Radley"/>
                  <a:sym typeface="Radley"/>
                </a:rPr>
                <a:t>Results &amp; Achievements During Internship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0" y="2368111"/>
              <a:ext cx="13559995" cy="50990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l">
                <a:lnSpc>
                  <a:spcPts val="2940"/>
                </a:lnSpc>
                <a:spcBef>
                  <a:spcPct val="0"/>
                </a:spcBef>
              </a:pPr>
              <a:r>
                <a:rPr lang="en-US" sz="2100" b="1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Projec</a:t>
              </a:r>
              <a:r>
                <a:rPr lang="en-US" sz="2100" b="1" u="none">
                  <a:solidFill>
                    <a:srgbClr val="000000"/>
                  </a:solidFill>
                  <a:latin typeface="Carlito Bold"/>
                  <a:ea typeface="Carlito Bold"/>
                  <a:cs typeface="Carlito Bold"/>
                  <a:sym typeface="Carlito Bold"/>
                </a:rPr>
                <a:t>t Name: Course &amp; Section Scheduler</a:t>
              </a:r>
            </a:p>
          </p:txBody>
        </p:sp>
        <p:sp>
          <p:nvSpPr>
            <p:cNvPr id="5" name="AutoShape 5"/>
            <p:cNvSpPr/>
            <p:nvPr/>
          </p:nvSpPr>
          <p:spPr>
            <a:xfrm flipV="1">
              <a:off x="123" y="2001154"/>
              <a:ext cx="14190417" cy="28921"/>
            </a:xfrm>
            <a:prstGeom prst="line">
              <a:avLst/>
            </a:prstGeom>
            <a:ln w="25400" cap="flat">
              <a:solidFill>
                <a:srgbClr val="BD8F53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AutoShape 6"/>
          <p:cNvSpPr/>
          <p:nvPr/>
        </p:nvSpPr>
        <p:spPr>
          <a:xfrm>
            <a:off x="3932571" y="1091683"/>
            <a:ext cx="12254674" cy="0"/>
          </a:xfrm>
          <a:prstGeom prst="line">
            <a:avLst/>
          </a:prstGeom>
          <a:ln w="19050" cap="flat">
            <a:solidFill>
              <a:srgbClr val="BD8F53"/>
            </a:soli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en-US"/>
          </a:p>
        </p:txBody>
      </p:sp>
      <p:grpSp>
        <p:nvGrpSpPr>
          <p:cNvPr id="7" name="Group 7"/>
          <p:cNvGrpSpPr>
            <a:grpSpLocks noChangeAspect="1"/>
          </p:cNvGrpSpPr>
          <p:nvPr/>
        </p:nvGrpSpPr>
        <p:grpSpPr>
          <a:xfrm>
            <a:off x="7357255" y="3545164"/>
            <a:ext cx="10930745" cy="5713136"/>
            <a:chOff x="0" y="0"/>
            <a:chExt cx="19050000" cy="9956800"/>
          </a:xfrm>
        </p:grpSpPr>
        <p:sp>
          <p:nvSpPr>
            <p:cNvPr id="8" name="Freeform 8"/>
            <p:cNvSpPr/>
            <p:nvPr/>
          </p:nvSpPr>
          <p:spPr>
            <a:xfrm>
              <a:off x="2501900" y="209042"/>
              <a:ext cx="14186915" cy="8502396"/>
            </a:xfrm>
            <a:custGeom>
              <a:avLst/>
              <a:gdLst/>
              <a:ahLst/>
              <a:cxnLst/>
              <a:rect l="l" t="t" r="r" b="b"/>
              <a:pathLst>
                <a:path w="14186915" h="8502396">
                  <a:moveTo>
                    <a:pt x="14186915" y="8502396"/>
                  </a:moveTo>
                  <a:lnTo>
                    <a:pt x="0" y="8502396"/>
                  </a:lnTo>
                  <a:lnTo>
                    <a:pt x="0" y="0"/>
                  </a:lnTo>
                  <a:lnTo>
                    <a:pt x="14186915" y="0"/>
                  </a:lnTo>
                  <a:lnTo>
                    <a:pt x="14186915" y="8502396"/>
                  </a:lnTo>
                  <a:close/>
                </a:path>
              </a:pathLst>
            </a:custGeom>
            <a:blipFill>
              <a:blip r:embed="rId2"/>
              <a:stretch>
                <a:fillRect t="-5584" b="-5584"/>
              </a:stretch>
            </a:blipFill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Freeform 9"/>
            <p:cNvSpPr/>
            <p:nvPr/>
          </p:nvSpPr>
          <p:spPr>
            <a:xfrm>
              <a:off x="0" y="0"/>
              <a:ext cx="19050000" cy="9956800"/>
            </a:xfrm>
            <a:custGeom>
              <a:avLst/>
              <a:gdLst/>
              <a:ahLst/>
              <a:cxnLst/>
              <a:rect l="l" t="t" r="r" b="b"/>
              <a:pathLst>
                <a:path w="19050000" h="9956800">
                  <a:moveTo>
                    <a:pt x="19050000" y="9956800"/>
                  </a:moveTo>
                  <a:lnTo>
                    <a:pt x="0" y="9956800"/>
                  </a:lnTo>
                  <a:lnTo>
                    <a:pt x="0" y="0"/>
                  </a:lnTo>
                  <a:lnTo>
                    <a:pt x="19050000" y="0"/>
                  </a:lnTo>
                  <a:lnTo>
                    <a:pt x="19050000" y="9956800"/>
                  </a:lnTo>
                  <a:close/>
                </a:path>
              </a:pathLst>
            </a:custGeom>
            <a:blipFill>
              <a:blip r:embed="rId3"/>
              <a:stretch>
                <a:fillRect l="-15" r="-15"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10" name="TextBox 10"/>
          <p:cNvSpPr txBox="1"/>
          <p:nvPr/>
        </p:nvSpPr>
        <p:spPr>
          <a:xfrm>
            <a:off x="563284" y="4212875"/>
            <a:ext cx="10169996" cy="1739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Overview:</a:t>
            </a:r>
          </a:p>
          <a:p>
            <a:pPr algn="l">
              <a:lnSpc>
                <a:spcPts val="2660"/>
              </a:lnSpc>
            </a:pPr>
            <a:endParaRPr lang="en-US" sz="2100" b="1">
              <a:solidFill>
                <a:srgbClr val="000000"/>
              </a:solidFill>
              <a:latin typeface="Carlito Bold"/>
              <a:ea typeface="Carlito Bold"/>
              <a:cs typeface="Carlito Bold"/>
              <a:sym typeface="Carlito Bold"/>
            </a:endParaRPr>
          </a:p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Build a Laravel</a:t>
            </a:r>
            <a:r>
              <a:rPr lang="en-US" sz="1900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app for managing courses and sections.</a:t>
            </a:r>
          </a:p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Arabic UI with interactive weekly schedule.</a:t>
            </a:r>
          </a:p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r>
              <a:rPr lang="en-US" sz="1900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Student login with secure actions (CSRF).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563284" y="6027144"/>
            <a:ext cx="10169996" cy="25971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Architecture: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Framework: Laravel</a:t>
            </a:r>
            <a:r>
              <a:rPr lang="en-US" sz="2100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 12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Database: SQLite (planned to use university API)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Models: Course, Section, Student, StudentCourse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Views: Blade + Tailwind (CDN)</a:t>
            </a:r>
          </a:p>
          <a:p>
            <a:pPr marL="453390" lvl="1" indent="-226695" algn="l">
              <a:lnSpc>
                <a:spcPts val="2940"/>
              </a:lnSpc>
              <a:spcBef>
                <a:spcPct val="0"/>
              </a:spcBef>
              <a:buFont typeface="Arial"/>
              <a:buChar char="•"/>
            </a:pPr>
            <a:r>
              <a:rPr lang="en-US" sz="2100" b="1" u="none">
                <a:solidFill>
                  <a:srgbClr val="000000"/>
                </a:solidFill>
                <a:latin typeface="Carlito Bold"/>
                <a:ea typeface="Carlito Bold"/>
                <a:cs typeface="Carlito Bold"/>
                <a:sym typeface="Carlito Bold"/>
              </a:rPr>
              <a:t>Scheduling: fetch POST requests with CSRF</a:t>
            </a:r>
          </a:p>
          <a:p>
            <a:pPr marL="0" lvl="0" indent="0" algn="l">
              <a:lnSpc>
                <a:spcPts val="2660"/>
              </a:lnSpc>
              <a:spcBef>
                <a:spcPct val="0"/>
              </a:spcBef>
            </a:pPr>
            <a:endParaRPr lang="en-US" sz="2100" b="1" u="none">
              <a:solidFill>
                <a:srgbClr val="000000"/>
              </a:solidFill>
              <a:latin typeface="Carlito Bold"/>
              <a:ea typeface="Carlito Bold"/>
              <a:cs typeface="Carlito Bold"/>
              <a:sym typeface="Carlito Bold"/>
            </a:endParaRPr>
          </a:p>
        </p:txBody>
      </p:sp>
      <p:sp>
        <p:nvSpPr>
          <p:cNvPr id="12" name="TextBox 12"/>
          <p:cNvSpPr txBox="1"/>
          <p:nvPr/>
        </p:nvSpPr>
        <p:spPr>
          <a:xfrm>
            <a:off x="-1070864" y="8567144"/>
            <a:ext cx="10642924" cy="80000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55"/>
              </a:lnSpc>
              <a:spcBef>
                <a:spcPct val="0"/>
              </a:spcBef>
            </a:pPr>
            <a:r>
              <a:rPr lang="en-US" sz="2253" b="1" i="1" spc="-45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A Laravel app that helps students register courses and sections</a:t>
            </a:r>
          </a:p>
          <a:p>
            <a:pPr algn="ctr">
              <a:lnSpc>
                <a:spcPts val="3155"/>
              </a:lnSpc>
              <a:spcBef>
                <a:spcPct val="0"/>
              </a:spcBef>
            </a:pPr>
            <a:r>
              <a:rPr lang="en-US" sz="2253" b="1" i="1" spc="-45">
                <a:solidFill>
                  <a:srgbClr val="000000"/>
                </a:solidFill>
                <a:latin typeface="Arimo Bold Italics"/>
                <a:ea typeface="Arimo Bold Italics"/>
                <a:cs typeface="Arimo Bold Italics"/>
                <a:sym typeface="Arimo Bold Italics"/>
              </a:rPr>
              <a:t> efficiently while preventing duplicates and scheduling conflicts.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4F1E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1026307" y="5410811"/>
            <a:ext cx="5246051" cy="3847489"/>
            <a:chOff x="0" y="0"/>
            <a:chExt cx="6994735" cy="5129985"/>
          </a:xfrm>
        </p:grpSpPr>
        <p:sp>
          <p:nvSpPr>
            <p:cNvPr id="3" name="TextBox 3"/>
            <p:cNvSpPr txBox="1"/>
            <p:nvPr/>
          </p:nvSpPr>
          <p:spPr>
            <a:xfrm>
              <a:off x="3191" y="478186"/>
              <a:ext cx="6991528" cy="4651799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l">
                <a:lnSpc>
                  <a:spcPts val="3919"/>
                </a:lnSpc>
              </a:pPr>
              <a:r>
                <a:rPr lang="en-US" sz="2799">
                  <a:solidFill>
                    <a:srgbClr val="000000"/>
                  </a:solidFill>
                  <a:latin typeface="Carlito"/>
                  <a:ea typeface="Carlito"/>
                  <a:cs typeface="Carlito"/>
                  <a:sym typeface="Carlito"/>
                </a:rPr>
                <a:t>The summer internship provided hands-on experience in full-stack development, teamwork, and professional workflows, allowing me to apply learned skills, solve real problems, and enhance both technical and collaborative abilities.</a:t>
              </a:r>
            </a:p>
          </p:txBody>
        </p:sp>
        <p:sp>
          <p:nvSpPr>
            <p:cNvPr id="4" name="AutoShape 4"/>
            <p:cNvSpPr/>
            <p:nvPr/>
          </p:nvSpPr>
          <p:spPr>
            <a:xfrm flipV="1">
              <a:off x="16" y="12700"/>
              <a:ext cx="6994703" cy="8847"/>
            </a:xfrm>
            <a:prstGeom prst="line">
              <a:avLst/>
            </a:prstGeom>
            <a:ln w="25400" cap="flat">
              <a:solidFill>
                <a:srgbClr val="000000"/>
              </a:solidFill>
              <a:prstDash val="solid"/>
              <a:headEnd type="none" w="sm" len="sm"/>
              <a:tailEnd type="none" w="sm" len="sm"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5" name="Freeform 5"/>
          <p:cNvSpPr/>
          <p:nvPr/>
        </p:nvSpPr>
        <p:spPr>
          <a:xfrm>
            <a:off x="7707850" y="5302401"/>
            <a:ext cx="1765112" cy="1659205"/>
          </a:xfrm>
          <a:custGeom>
            <a:avLst/>
            <a:gdLst/>
            <a:ahLst/>
            <a:cxnLst/>
            <a:rect l="l" t="t" r="r" b="b"/>
            <a:pathLst>
              <a:path w="1765112" h="1659205">
                <a:moveTo>
                  <a:pt x="0" y="0"/>
                </a:moveTo>
                <a:lnTo>
                  <a:pt x="1765112" y="0"/>
                </a:lnTo>
                <a:lnTo>
                  <a:pt x="1765112" y="1659205"/>
                </a:lnTo>
                <a:lnTo>
                  <a:pt x="0" y="165920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6" name="Freeform 6"/>
          <p:cNvSpPr/>
          <p:nvPr/>
        </p:nvSpPr>
        <p:spPr>
          <a:xfrm rot="5705982">
            <a:off x="8299134" y="706465"/>
            <a:ext cx="507444" cy="1651444"/>
          </a:xfrm>
          <a:custGeom>
            <a:avLst/>
            <a:gdLst/>
            <a:ahLst/>
            <a:cxnLst/>
            <a:rect l="l" t="t" r="r" b="b"/>
            <a:pathLst>
              <a:path w="507444" h="1651444">
                <a:moveTo>
                  <a:pt x="0" y="0"/>
                </a:moveTo>
                <a:lnTo>
                  <a:pt x="507444" y="0"/>
                </a:lnTo>
                <a:lnTo>
                  <a:pt x="507444" y="1651444"/>
                </a:lnTo>
                <a:lnTo>
                  <a:pt x="0" y="165144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7" name="Freeform 7"/>
          <p:cNvSpPr/>
          <p:nvPr/>
        </p:nvSpPr>
        <p:spPr>
          <a:xfrm>
            <a:off x="7027978" y="2131820"/>
            <a:ext cx="2949699" cy="386142"/>
          </a:xfrm>
          <a:custGeom>
            <a:avLst/>
            <a:gdLst/>
            <a:ahLst/>
            <a:cxnLst/>
            <a:rect l="l" t="t" r="r" b="b"/>
            <a:pathLst>
              <a:path w="2949699" h="386142">
                <a:moveTo>
                  <a:pt x="0" y="0"/>
                </a:moveTo>
                <a:lnTo>
                  <a:pt x="2949699" y="0"/>
                </a:lnTo>
                <a:lnTo>
                  <a:pt x="2949699" y="386143"/>
                </a:lnTo>
                <a:lnTo>
                  <a:pt x="0" y="38614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8" name="Freeform 8"/>
          <p:cNvSpPr/>
          <p:nvPr/>
        </p:nvSpPr>
        <p:spPr>
          <a:xfrm>
            <a:off x="10966013" y="1028700"/>
            <a:ext cx="2652799" cy="1659205"/>
          </a:xfrm>
          <a:custGeom>
            <a:avLst/>
            <a:gdLst/>
            <a:ahLst/>
            <a:cxnLst/>
            <a:rect l="l" t="t" r="r" b="b"/>
            <a:pathLst>
              <a:path w="2652799" h="1659205">
                <a:moveTo>
                  <a:pt x="0" y="0"/>
                </a:moveTo>
                <a:lnTo>
                  <a:pt x="2652799" y="0"/>
                </a:lnTo>
                <a:lnTo>
                  <a:pt x="2652799" y="1659205"/>
                </a:lnTo>
                <a:lnTo>
                  <a:pt x="0" y="165920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9" name="Freeform 9"/>
          <p:cNvSpPr/>
          <p:nvPr/>
        </p:nvSpPr>
        <p:spPr>
          <a:xfrm>
            <a:off x="14412258" y="1257644"/>
            <a:ext cx="2675947" cy="846572"/>
          </a:xfrm>
          <a:custGeom>
            <a:avLst/>
            <a:gdLst/>
            <a:ahLst/>
            <a:cxnLst/>
            <a:rect l="l" t="t" r="r" b="b"/>
            <a:pathLst>
              <a:path w="2675947" h="846572">
                <a:moveTo>
                  <a:pt x="0" y="0"/>
                </a:moveTo>
                <a:lnTo>
                  <a:pt x="2675947" y="0"/>
                </a:lnTo>
                <a:lnTo>
                  <a:pt x="2675947" y="846573"/>
                </a:lnTo>
                <a:lnTo>
                  <a:pt x="0" y="84657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0" name="Freeform 10"/>
          <p:cNvSpPr/>
          <p:nvPr/>
        </p:nvSpPr>
        <p:spPr>
          <a:xfrm>
            <a:off x="14732929" y="3477730"/>
            <a:ext cx="2231483" cy="1006196"/>
          </a:xfrm>
          <a:custGeom>
            <a:avLst/>
            <a:gdLst/>
            <a:ahLst/>
            <a:cxnLst/>
            <a:rect l="l" t="t" r="r" b="b"/>
            <a:pathLst>
              <a:path w="2231483" h="1006196">
                <a:moveTo>
                  <a:pt x="0" y="0"/>
                </a:moveTo>
                <a:lnTo>
                  <a:pt x="2231483" y="0"/>
                </a:lnTo>
                <a:lnTo>
                  <a:pt x="2231483" y="1006196"/>
                </a:lnTo>
                <a:lnTo>
                  <a:pt x="0" y="100619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>
          <a:xfrm>
            <a:off x="11124557" y="3585880"/>
            <a:ext cx="2335711" cy="789895"/>
          </a:xfrm>
          <a:custGeom>
            <a:avLst/>
            <a:gdLst/>
            <a:ahLst/>
            <a:cxnLst/>
            <a:rect l="l" t="t" r="r" b="b"/>
            <a:pathLst>
              <a:path w="2335711" h="789895">
                <a:moveTo>
                  <a:pt x="0" y="0"/>
                </a:moveTo>
                <a:lnTo>
                  <a:pt x="2335711" y="0"/>
                </a:lnTo>
                <a:lnTo>
                  <a:pt x="2335711" y="789895"/>
                </a:lnTo>
                <a:lnTo>
                  <a:pt x="0" y="789895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2" name="Freeform 12"/>
          <p:cNvSpPr/>
          <p:nvPr/>
        </p:nvSpPr>
        <p:spPr>
          <a:xfrm>
            <a:off x="7537807" y="3585880"/>
            <a:ext cx="2439870" cy="993692"/>
          </a:xfrm>
          <a:custGeom>
            <a:avLst/>
            <a:gdLst/>
            <a:ahLst/>
            <a:cxnLst/>
            <a:rect l="l" t="t" r="r" b="b"/>
            <a:pathLst>
              <a:path w="2439870" h="993692">
                <a:moveTo>
                  <a:pt x="0" y="0"/>
                </a:moveTo>
                <a:lnTo>
                  <a:pt x="2439870" y="0"/>
                </a:lnTo>
                <a:lnTo>
                  <a:pt x="2439870" y="993693"/>
                </a:lnTo>
                <a:lnTo>
                  <a:pt x="0" y="993693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3" name="Freeform 13"/>
          <p:cNvSpPr/>
          <p:nvPr/>
        </p:nvSpPr>
        <p:spPr>
          <a:xfrm>
            <a:off x="14351919" y="5903151"/>
            <a:ext cx="2736287" cy="457706"/>
          </a:xfrm>
          <a:custGeom>
            <a:avLst/>
            <a:gdLst/>
            <a:ahLst/>
            <a:cxnLst/>
            <a:rect l="l" t="t" r="r" b="b"/>
            <a:pathLst>
              <a:path w="2736287" h="457706">
                <a:moveTo>
                  <a:pt x="0" y="0"/>
                </a:moveTo>
                <a:lnTo>
                  <a:pt x="2736286" y="0"/>
                </a:lnTo>
                <a:lnTo>
                  <a:pt x="2736286" y="457706"/>
                </a:lnTo>
                <a:lnTo>
                  <a:pt x="0" y="457706"/>
                </a:lnTo>
                <a:lnTo>
                  <a:pt x="0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4" name="Freeform 14"/>
          <p:cNvSpPr/>
          <p:nvPr/>
        </p:nvSpPr>
        <p:spPr>
          <a:xfrm>
            <a:off x="11079548" y="5532624"/>
            <a:ext cx="2211301" cy="1656465"/>
          </a:xfrm>
          <a:custGeom>
            <a:avLst/>
            <a:gdLst/>
            <a:ahLst/>
            <a:cxnLst/>
            <a:rect l="l" t="t" r="r" b="b"/>
            <a:pathLst>
              <a:path w="2211301" h="1656465">
                <a:moveTo>
                  <a:pt x="0" y="0"/>
                </a:moveTo>
                <a:lnTo>
                  <a:pt x="2211301" y="0"/>
                </a:lnTo>
                <a:lnTo>
                  <a:pt x="2211301" y="1656465"/>
                </a:lnTo>
                <a:lnTo>
                  <a:pt x="0" y="1656465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extLs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5" name="Freeform 15"/>
          <p:cNvSpPr/>
          <p:nvPr/>
        </p:nvSpPr>
        <p:spPr>
          <a:xfrm rot="5483889" flipH="1">
            <a:off x="11338718" y="7289840"/>
            <a:ext cx="1312937" cy="2344530"/>
          </a:xfrm>
          <a:custGeom>
            <a:avLst/>
            <a:gdLst/>
            <a:ahLst/>
            <a:cxnLst/>
            <a:rect l="l" t="t" r="r" b="b"/>
            <a:pathLst>
              <a:path w="1312937" h="2344530">
                <a:moveTo>
                  <a:pt x="1312937" y="0"/>
                </a:moveTo>
                <a:lnTo>
                  <a:pt x="0" y="0"/>
                </a:lnTo>
                <a:lnTo>
                  <a:pt x="0" y="2344530"/>
                </a:lnTo>
                <a:lnTo>
                  <a:pt x="1312937" y="2344530"/>
                </a:lnTo>
                <a:lnTo>
                  <a:pt x="1312937" y="0"/>
                </a:lnTo>
                <a:close/>
              </a:path>
            </a:pathLst>
          </a:custGeom>
          <a:blipFill>
            <a:blip r:embed="rId22">
              <a:extLs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6" name="Freeform 16"/>
          <p:cNvSpPr/>
          <p:nvPr/>
        </p:nvSpPr>
        <p:spPr>
          <a:xfrm>
            <a:off x="7707850" y="7606848"/>
            <a:ext cx="1912160" cy="1710514"/>
          </a:xfrm>
          <a:custGeom>
            <a:avLst/>
            <a:gdLst/>
            <a:ahLst/>
            <a:cxnLst/>
            <a:rect l="l" t="t" r="r" b="b"/>
            <a:pathLst>
              <a:path w="1912160" h="1710514">
                <a:moveTo>
                  <a:pt x="0" y="0"/>
                </a:moveTo>
                <a:lnTo>
                  <a:pt x="1912159" y="0"/>
                </a:lnTo>
                <a:lnTo>
                  <a:pt x="1912159" y="1710514"/>
                </a:lnTo>
                <a:lnTo>
                  <a:pt x="0" y="1710514"/>
                </a:lnTo>
                <a:lnTo>
                  <a:pt x="0" y="0"/>
                </a:lnTo>
                <a:close/>
              </a:path>
            </a:pathLst>
          </a:custGeom>
          <a:blipFill>
            <a:blip r:embed="rId24">
              <a:extLs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7" name="Freeform 17"/>
          <p:cNvSpPr/>
          <p:nvPr/>
        </p:nvSpPr>
        <p:spPr>
          <a:xfrm>
            <a:off x="14138507" y="7936386"/>
            <a:ext cx="2949699" cy="997534"/>
          </a:xfrm>
          <a:custGeom>
            <a:avLst/>
            <a:gdLst/>
            <a:ahLst/>
            <a:cxnLst/>
            <a:rect l="l" t="t" r="r" b="b"/>
            <a:pathLst>
              <a:path w="2949699" h="997534">
                <a:moveTo>
                  <a:pt x="0" y="0"/>
                </a:moveTo>
                <a:lnTo>
                  <a:pt x="2949698" y="0"/>
                </a:lnTo>
                <a:lnTo>
                  <a:pt x="2949698" y="997535"/>
                </a:lnTo>
                <a:lnTo>
                  <a:pt x="0" y="997535"/>
                </a:lnTo>
                <a:lnTo>
                  <a:pt x="0" y="0"/>
                </a:lnTo>
                <a:close/>
              </a:path>
            </a:pathLst>
          </a:custGeom>
          <a:blipFill>
            <a:blip r:embed="rId26">
              <a:extLs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/>
          </a:p>
        </p:txBody>
      </p:sp>
      <p:sp>
        <p:nvSpPr>
          <p:cNvPr id="18" name="TextBox 18"/>
          <p:cNvSpPr txBox="1"/>
          <p:nvPr/>
        </p:nvSpPr>
        <p:spPr>
          <a:xfrm>
            <a:off x="1028700" y="1085850"/>
            <a:ext cx="5059131" cy="10045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7840"/>
              </a:lnSpc>
              <a:spcBef>
                <a:spcPct val="0"/>
              </a:spcBef>
            </a:pPr>
            <a:r>
              <a:rPr lang="en-US" sz="7000" i="1">
                <a:solidFill>
                  <a:srgbClr val="000000"/>
                </a:solidFill>
                <a:latin typeface="Radley Italics"/>
                <a:ea typeface="Radley Italics"/>
                <a:cs typeface="Radley Italics"/>
                <a:sym typeface="Radley Italics"/>
              </a:rPr>
              <a:t>ِConclusion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373</Words>
  <Application>Microsoft Office PowerPoint</Application>
  <PresentationFormat>Custom</PresentationFormat>
  <Paragraphs>64</Paragraphs>
  <Slides>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7" baseType="lpstr">
      <vt:lpstr>Carlito Bold</vt:lpstr>
      <vt:lpstr>Arimo Bold Italics</vt:lpstr>
      <vt:lpstr>Calibri</vt:lpstr>
      <vt:lpstr>Radley Italics</vt:lpstr>
      <vt:lpstr>Arial</vt:lpstr>
      <vt:lpstr>Carlito</vt:lpstr>
      <vt:lpstr>Radley</vt:lpstr>
      <vt:lpstr>Aptos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Brand Designer Portfolio Presentation in Beige Black Bronze Warm Classic Style</dc:title>
  <dc:creator>Jack Rage</dc:creator>
  <cp:lastModifiedBy>Jack Rage</cp:lastModifiedBy>
  <cp:revision>2</cp:revision>
  <dcterms:created xsi:type="dcterms:W3CDTF">2006-08-16T00:00:00Z</dcterms:created>
  <dcterms:modified xsi:type="dcterms:W3CDTF">2025-08-31T12:30:39Z</dcterms:modified>
  <dc:identifier>DAGxo7ZJd1E</dc:identifier>
</cp:coreProperties>
</file>